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8" r:id="rId21"/>
    <p:sldId id="275" r:id="rId22"/>
    <p:sldId id="276"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59" autoAdjust="0"/>
    <p:restoredTop sz="94660"/>
  </p:normalViewPr>
  <p:slideViewPr>
    <p:cSldViewPr snapToGrid="0">
      <p:cViewPr varScale="1">
        <p:scale>
          <a:sx n="76" d="100"/>
          <a:sy n="76" d="100"/>
        </p:scale>
        <p:origin x="19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DCA1DFCF-ED5B-412D-A358-EA7CAB24497A}" type="datetimeFigureOut">
              <a:rPr lang="en-GB" smtClean="0"/>
              <a:t>14/09/2025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8CB652-2BD9-4B32-8221-51A5B0D701C0}" type="slidenum">
              <a:rPr lang="en-GB" smtClean="0"/>
              <a:t>‹#›</a:t>
            </a:fld>
            <a:endParaRPr lang="en-GB"/>
          </a:p>
        </p:txBody>
      </p:sp>
    </p:spTree>
    <p:extLst>
      <p:ext uri="{BB962C8B-B14F-4D97-AF65-F5344CB8AC3E}">
        <p14:creationId xmlns:p14="http://schemas.microsoft.com/office/powerpoint/2010/main" val="2453274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CA1DFCF-ED5B-412D-A358-EA7CAB24497A}" type="datetimeFigureOut">
              <a:rPr lang="en-GB" smtClean="0"/>
              <a:t>14/09/2025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8CB652-2BD9-4B32-8221-51A5B0D701C0}" type="slidenum">
              <a:rPr lang="en-GB" smtClean="0"/>
              <a:t>‹#›</a:t>
            </a:fld>
            <a:endParaRPr lang="en-GB"/>
          </a:p>
        </p:txBody>
      </p:sp>
    </p:spTree>
    <p:extLst>
      <p:ext uri="{BB962C8B-B14F-4D97-AF65-F5344CB8AC3E}">
        <p14:creationId xmlns:p14="http://schemas.microsoft.com/office/powerpoint/2010/main" val="511778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CA1DFCF-ED5B-412D-A358-EA7CAB24497A}" type="datetimeFigureOut">
              <a:rPr lang="en-GB" smtClean="0"/>
              <a:t>14/09/2025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8CB652-2BD9-4B32-8221-51A5B0D701C0}" type="slidenum">
              <a:rPr lang="en-GB" smtClean="0"/>
              <a:t>‹#›</a:t>
            </a:fld>
            <a:endParaRPr lang="en-GB"/>
          </a:p>
        </p:txBody>
      </p:sp>
    </p:spTree>
    <p:extLst>
      <p:ext uri="{BB962C8B-B14F-4D97-AF65-F5344CB8AC3E}">
        <p14:creationId xmlns:p14="http://schemas.microsoft.com/office/powerpoint/2010/main" val="2645784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CA1DFCF-ED5B-412D-A358-EA7CAB24497A}" type="datetimeFigureOut">
              <a:rPr lang="en-GB" smtClean="0"/>
              <a:t>14/09/2025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8CB652-2BD9-4B32-8221-51A5B0D701C0}" type="slidenum">
              <a:rPr lang="en-GB" smtClean="0"/>
              <a:t>‹#›</a:t>
            </a:fld>
            <a:endParaRPr lang="en-GB"/>
          </a:p>
        </p:txBody>
      </p:sp>
    </p:spTree>
    <p:extLst>
      <p:ext uri="{BB962C8B-B14F-4D97-AF65-F5344CB8AC3E}">
        <p14:creationId xmlns:p14="http://schemas.microsoft.com/office/powerpoint/2010/main" val="3533788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CA1DFCF-ED5B-412D-A358-EA7CAB24497A}" type="datetimeFigureOut">
              <a:rPr lang="en-GB" smtClean="0"/>
              <a:t>14/09/2025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F8CB652-2BD9-4B32-8221-51A5B0D701C0}" type="slidenum">
              <a:rPr lang="en-GB" smtClean="0"/>
              <a:t>‹#›</a:t>
            </a:fld>
            <a:endParaRPr lang="en-GB"/>
          </a:p>
        </p:txBody>
      </p:sp>
    </p:spTree>
    <p:extLst>
      <p:ext uri="{BB962C8B-B14F-4D97-AF65-F5344CB8AC3E}">
        <p14:creationId xmlns:p14="http://schemas.microsoft.com/office/powerpoint/2010/main" val="3792616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CA1DFCF-ED5B-412D-A358-EA7CAB24497A}" type="datetimeFigureOut">
              <a:rPr lang="en-GB" smtClean="0"/>
              <a:t>14/09/2025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F8CB652-2BD9-4B32-8221-51A5B0D701C0}" type="slidenum">
              <a:rPr lang="en-GB" smtClean="0"/>
              <a:t>‹#›</a:t>
            </a:fld>
            <a:endParaRPr lang="en-GB"/>
          </a:p>
        </p:txBody>
      </p:sp>
    </p:spTree>
    <p:extLst>
      <p:ext uri="{BB962C8B-B14F-4D97-AF65-F5344CB8AC3E}">
        <p14:creationId xmlns:p14="http://schemas.microsoft.com/office/powerpoint/2010/main" val="3650405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A1DFCF-ED5B-412D-A358-EA7CAB24497A}" type="datetimeFigureOut">
              <a:rPr lang="en-GB" smtClean="0"/>
              <a:t>14/09/2025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F8CB652-2BD9-4B32-8221-51A5B0D701C0}" type="slidenum">
              <a:rPr lang="en-GB" smtClean="0"/>
              <a:t>‹#›</a:t>
            </a:fld>
            <a:endParaRPr lang="en-GB"/>
          </a:p>
        </p:txBody>
      </p:sp>
    </p:spTree>
    <p:extLst>
      <p:ext uri="{BB962C8B-B14F-4D97-AF65-F5344CB8AC3E}">
        <p14:creationId xmlns:p14="http://schemas.microsoft.com/office/powerpoint/2010/main" val="342955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CA1DFCF-ED5B-412D-A358-EA7CAB24497A}" type="datetimeFigureOut">
              <a:rPr lang="en-GB" smtClean="0"/>
              <a:t>14/09/2025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8CB652-2BD9-4B32-8221-51A5B0D701C0}" type="slidenum">
              <a:rPr lang="en-GB" smtClean="0"/>
              <a:t>‹#›</a:t>
            </a:fld>
            <a:endParaRPr lang="en-GB"/>
          </a:p>
        </p:txBody>
      </p:sp>
    </p:spTree>
    <p:extLst>
      <p:ext uri="{BB962C8B-B14F-4D97-AF65-F5344CB8AC3E}">
        <p14:creationId xmlns:p14="http://schemas.microsoft.com/office/powerpoint/2010/main" val="179802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CA1DFCF-ED5B-412D-A358-EA7CAB24497A}" type="datetimeFigureOut">
              <a:rPr lang="en-GB" smtClean="0"/>
              <a:t>14/09/2025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8CB652-2BD9-4B32-8221-51A5B0D701C0}" type="slidenum">
              <a:rPr lang="en-GB" smtClean="0"/>
              <a:t>‹#›</a:t>
            </a:fld>
            <a:endParaRPr lang="en-GB"/>
          </a:p>
        </p:txBody>
      </p:sp>
    </p:spTree>
    <p:extLst>
      <p:ext uri="{BB962C8B-B14F-4D97-AF65-F5344CB8AC3E}">
        <p14:creationId xmlns:p14="http://schemas.microsoft.com/office/powerpoint/2010/main" val="1220229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CA1DFCF-ED5B-412D-A358-EA7CAB24497A}" type="datetimeFigureOut">
              <a:rPr lang="en-GB" smtClean="0"/>
              <a:t>14/09/2025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8CB652-2BD9-4B32-8221-51A5B0D701C0}" type="slidenum">
              <a:rPr lang="en-GB" smtClean="0"/>
              <a:t>‹#›</a:t>
            </a:fld>
            <a:endParaRPr lang="en-GB"/>
          </a:p>
        </p:txBody>
      </p:sp>
    </p:spTree>
    <p:extLst>
      <p:ext uri="{BB962C8B-B14F-4D97-AF65-F5344CB8AC3E}">
        <p14:creationId xmlns:p14="http://schemas.microsoft.com/office/powerpoint/2010/main" val="2111764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CA1DFCF-ED5B-412D-A358-EA7CAB24497A}" type="datetimeFigureOut">
              <a:rPr lang="en-GB" smtClean="0"/>
              <a:t>14/09/2025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8CB652-2BD9-4B32-8221-51A5B0D701C0}" type="slidenum">
              <a:rPr lang="en-GB" smtClean="0"/>
              <a:t>‹#›</a:t>
            </a:fld>
            <a:endParaRPr lang="en-GB"/>
          </a:p>
        </p:txBody>
      </p:sp>
    </p:spTree>
    <p:extLst>
      <p:ext uri="{BB962C8B-B14F-4D97-AF65-F5344CB8AC3E}">
        <p14:creationId xmlns:p14="http://schemas.microsoft.com/office/powerpoint/2010/main" val="1593129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A1DFCF-ED5B-412D-A358-EA7CAB24497A}" type="datetimeFigureOut">
              <a:rPr lang="en-GB" smtClean="0"/>
              <a:t>14/09/2025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8CB652-2BD9-4B32-8221-51A5B0D701C0}" type="slidenum">
              <a:rPr lang="en-GB" smtClean="0"/>
              <a:t>‹#›</a:t>
            </a:fld>
            <a:endParaRPr lang="en-GB"/>
          </a:p>
        </p:txBody>
      </p:sp>
    </p:spTree>
    <p:extLst>
      <p:ext uri="{BB962C8B-B14F-4D97-AF65-F5344CB8AC3E}">
        <p14:creationId xmlns:p14="http://schemas.microsoft.com/office/powerpoint/2010/main" val="3799134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GB" sz="4400" dirty="0"/>
              <a:t>An overview of language contacts. Language maintenance, language shift, language death. Emergence of new languages</a:t>
            </a:r>
          </a:p>
        </p:txBody>
      </p:sp>
      <p:sp>
        <p:nvSpPr>
          <p:cNvPr id="3" name="Subtitle 2"/>
          <p:cNvSpPr>
            <a:spLocks noGrp="1"/>
          </p:cNvSpPr>
          <p:nvPr>
            <p:ph type="subTitle" idx="1"/>
          </p:nvPr>
        </p:nvSpPr>
        <p:spPr/>
        <p:txBody>
          <a:bodyPr/>
          <a:lstStyle/>
          <a:p>
            <a:r>
              <a:rPr lang="et-EE" dirty="0"/>
              <a:t>Prof. Anna </a:t>
            </a:r>
            <a:r>
              <a:rPr lang="et-EE" dirty="0" err="1"/>
              <a:t>Verschik</a:t>
            </a:r>
            <a:endParaRPr lang="et-EE" dirty="0"/>
          </a:p>
          <a:p>
            <a:r>
              <a:rPr lang="et-EE" dirty="0" err="1"/>
              <a:t>Lecture</a:t>
            </a:r>
            <a:r>
              <a:rPr lang="et-EE" dirty="0"/>
              <a:t> 3</a:t>
            </a:r>
          </a:p>
          <a:p>
            <a:r>
              <a:rPr lang="en-GB" dirty="0"/>
              <a:t>19</a:t>
            </a:r>
            <a:r>
              <a:rPr lang="et-EE" dirty="0"/>
              <a:t>.09.20</a:t>
            </a:r>
            <a:r>
              <a:rPr lang="en-GB" dirty="0"/>
              <a:t>25</a:t>
            </a:r>
          </a:p>
        </p:txBody>
      </p:sp>
    </p:spTree>
    <p:extLst>
      <p:ext uri="{BB962C8B-B14F-4D97-AF65-F5344CB8AC3E}">
        <p14:creationId xmlns:p14="http://schemas.microsoft.com/office/powerpoint/2010/main" val="2685037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General remarks</a:t>
            </a:r>
          </a:p>
        </p:txBody>
      </p:sp>
      <p:sp>
        <p:nvSpPr>
          <p:cNvPr id="3" name="Content Placeholder 2"/>
          <p:cNvSpPr>
            <a:spLocks noGrp="1"/>
          </p:cNvSpPr>
          <p:nvPr>
            <p:ph idx="1"/>
          </p:nvPr>
        </p:nvSpPr>
        <p:spPr/>
        <p:txBody>
          <a:bodyPr>
            <a:normAutofit/>
          </a:bodyPr>
          <a:lstStyle/>
          <a:p>
            <a:pPr lvl="0"/>
            <a:r>
              <a:rPr lang="en-GB" dirty="0"/>
              <a:t>Language contacts are not a marginal phenomenon</a:t>
            </a:r>
            <a:endParaRPr lang="et-EE" dirty="0"/>
          </a:p>
          <a:p>
            <a:pPr lvl="0"/>
            <a:r>
              <a:rPr lang="en-GB" dirty="0"/>
              <a:t>There are </a:t>
            </a:r>
            <a:r>
              <a:rPr lang="en-GB" b="1" dirty="0"/>
              <a:t>no pure languages</a:t>
            </a:r>
            <a:r>
              <a:rPr lang="en-GB" dirty="0"/>
              <a:t>, there are no isolated languages, </a:t>
            </a:r>
            <a:r>
              <a:rPr lang="en-GB" dirty="0" err="1"/>
              <a:t>contactlessness</a:t>
            </a:r>
            <a:r>
              <a:rPr lang="en-GB" dirty="0"/>
              <a:t> (absence of contacts) is a myth </a:t>
            </a:r>
          </a:p>
          <a:p>
            <a:pPr lvl="0"/>
            <a:r>
              <a:rPr lang="en-GB" dirty="0"/>
              <a:t>Many language theories consider </a:t>
            </a:r>
            <a:r>
              <a:rPr lang="en-GB" dirty="0" err="1"/>
              <a:t>contactlessness</a:t>
            </a:r>
            <a:r>
              <a:rPr lang="en-GB" dirty="0"/>
              <a:t> as a natural unmarked state </a:t>
            </a:r>
            <a:r>
              <a:rPr lang="et-EE" dirty="0" err="1"/>
              <a:t>that</a:t>
            </a:r>
            <a:r>
              <a:rPr lang="et-EE" dirty="0"/>
              <a:t> </a:t>
            </a:r>
            <a:r>
              <a:rPr lang="et-EE" dirty="0" err="1"/>
              <a:t>does</a:t>
            </a:r>
            <a:r>
              <a:rPr lang="et-EE" dirty="0"/>
              <a:t> </a:t>
            </a:r>
            <a:r>
              <a:rPr lang="et-EE" dirty="0" err="1"/>
              <a:t>not</a:t>
            </a:r>
            <a:r>
              <a:rPr lang="et-EE" dirty="0"/>
              <a:t> </a:t>
            </a:r>
            <a:r>
              <a:rPr lang="et-EE" dirty="0" err="1"/>
              <a:t>require</a:t>
            </a:r>
            <a:r>
              <a:rPr lang="et-EE" dirty="0"/>
              <a:t> </a:t>
            </a:r>
            <a:r>
              <a:rPr lang="et-EE" dirty="0" err="1"/>
              <a:t>explanation</a:t>
            </a:r>
            <a:endParaRPr lang="en-GB" dirty="0"/>
          </a:p>
          <a:p>
            <a:pPr lvl="0"/>
            <a:r>
              <a:rPr lang="en-GB" dirty="0"/>
              <a:t>Actually, not languages are in contacts but </a:t>
            </a:r>
            <a:r>
              <a:rPr lang="en-GB" b="1" dirty="0"/>
              <a:t>speakers</a:t>
            </a:r>
            <a:r>
              <a:rPr lang="en-GB" dirty="0"/>
              <a:t> of various languages. If a society consists of two different groups who are monolingual in their language and do not interact with each other, there is no language contact either</a:t>
            </a:r>
          </a:p>
        </p:txBody>
      </p:sp>
    </p:spTree>
    <p:extLst>
      <p:ext uri="{BB962C8B-B14F-4D97-AF65-F5344CB8AC3E}">
        <p14:creationId xmlns:p14="http://schemas.microsoft.com/office/powerpoint/2010/main" val="2307946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lvl="0"/>
            <a:r>
              <a:rPr lang="en-GB" dirty="0"/>
              <a:t>Multilinguals are “agents of influence”</a:t>
            </a:r>
            <a:r>
              <a:rPr lang="et-EE" dirty="0"/>
              <a:t> </a:t>
            </a:r>
          </a:p>
          <a:p>
            <a:pPr lvl="0"/>
            <a:r>
              <a:rPr lang="et-EE" b="1" dirty="0" err="1"/>
              <a:t>Speakers</a:t>
            </a:r>
            <a:r>
              <a:rPr lang="et-EE" b="1" dirty="0"/>
              <a:t> of diferent </a:t>
            </a:r>
            <a:r>
              <a:rPr lang="et-EE" b="1" dirty="0" err="1"/>
              <a:t>languages</a:t>
            </a:r>
            <a:r>
              <a:rPr lang="et-EE" b="1" dirty="0"/>
              <a:t> </a:t>
            </a:r>
            <a:r>
              <a:rPr lang="et-EE" b="1" dirty="0" err="1"/>
              <a:t>communicate</a:t>
            </a:r>
            <a:endParaRPr lang="et-EE" b="1" dirty="0"/>
          </a:p>
          <a:p>
            <a:r>
              <a:rPr lang="en-GB" b="1" dirty="0"/>
              <a:t>Contacts between language systems </a:t>
            </a:r>
            <a:r>
              <a:rPr lang="en-GB" dirty="0"/>
              <a:t>occur in the speaker’s cognition</a:t>
            </a:r>
          </a:p>
          <a:p>
            <a:r>
              <a:rPr lang="en-GB" dirty="0"/>
              <a:t>Need of communication &gt; some kind of multilingualism (proficiency may vary a lot) &gt; speaker’s cognition &gt; contacts with speakers of other languages &gt; changed cognition &gt; changed language perception (i.e., what is possible, “right” etc.) &gt; changes in use &gt; spread of innovations </a:t>
            </a:r>
          </a:p>
          <a:p>
            <a:r>
              <a:rPr lang="en-GB" dirty="0"/>
              <a:t>Do you use any Estonian/other language words? Which? When?</a:t>
            </a:r>
          </a:p>
          <a:p>
            <a:pPr lvl="0"/>
            <a:endParaRPr lang="en-GB" dirty="0"/>
          </a:p>
        </p:txBody>
      </p:sp>
    </p:spTree>
    <p:extLst>
      <p:ext uri="{BB962C8B-B14F-4D97-AF65-F5344CB8AC3E}">
        <p14:creationId xmlns:p14="http://schemas.microsoft.com/office/powerpoint/2010/main" val="3216475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a:bodyPr>
          <a:lstStyle/>
          <a:p>
            <a:pPr lvl="0"/>
            <a:r>
              <a:rPr lang="en-GB" dirty="0"/>
              <a:t>Impact of sociolinguistic factors is not a secret; it was noted in many papers but no systematic treatment before </a:t>
            </a:r>
            <a:r>
              <a:rPr lang="et-EE" dirty="0" err="1"/>
              <a:t>Uriel</a:t>
            </a:r>
            <a:r>
              <a:rPr lang="et-EE" dirty="0"/>
              <a:t> </a:t>
            </a:r>
            <a:r>
              <a:rPr lang="en-GB" dirty="0" err="1"/>
              <a:t>Weinreich</a:t>
            </a:r>
            <a:endParaRPr lang="et-EE" dirty="0"/>
          </a:p>
          <a:p>
            <a:pPr lvl="0"/>
            <a:r>
              <a:rPr lang="et-EE" dirty="0" err="1"/>
              <a:t>Uriel</a:t>
            </a:r>
            <a:r>
              <a:rPr lang="et-EE" dirty="0"/>
              <a:t> </a:t>
            </a:r>
            <a:r>
              <a:rPr lang="et-EE" dirty="0" err="1"/>
              <a:t>Weinreich</a:t>
            </a:r>
            <a:r>
              <a:rPr lang="et-EE" dirty="0"/>
              <a:t> (1953, </a:t>
            </a:r>
            <a:r>
              <a:rPr lang="et-EE" dirty="0" err="1"/>
              <a:t>Languages</a:t>
            </a:r>
            <a:r>
              <a:rPr lang="et-EE" dirty="0"/>
              <a:t> in </a:t>
            </a:r>
            <a:r>
              <a:rPr lang="et-EE" dirty="0" err="1"/>
              <a:t>Contact</a:t>
            </a:r>
            <a:r>
              <a:rPr lang="et-EE" dirty="0"/>
              <a:t>)</a:t>
            </a:r>
            <a:r>
              <a:rPr lang="en-GB" dirty="0"/>
              <a:t> discusses them to some extent but he is more interested in structure </a:t>
            </a:r>
          </a:p>
          <a:p>
            <a:pPr lvl="0"/>
            <a:r>
              <a:rPr lang="en-GB" dirty="0"/>
              <a:t>First systematic treatment and incorporation into linguistic theory: </a:t>
            </a:r>
            <a:r>
              <a:rPr lang="et-EE" b="1" dirty="0"/>
              <a:t>Sarah </a:t>
            </a:r>
            <a:r>
              <a:rPr lang="et-EE" b="1" dirty="0" err="1"/>
              <a:t>Grey</a:t>
            </a:r>
            <a:r>
              <a:rPr lang="et-EE" b="1" dirty="0"/>
              <a:t> </a:t>
            </a:r>
            <a:r>
              <a:rPr lang="et-EE" b="1" dirty="0" err="1"/>
              <a:t>Thomason</a:t>
            </a:r>
            <a:r>
              <a:rPr lang="et-EE" b="1" dirty="0"/>
              <a:t> ja </a:t>
            </a:r>
            <a:r>
              <a:rPr lang="et-EE" b="1" dirty="0" err="1"/>
              <a:t>Terence</a:t>
            </a:r>
            <a:r>
              <a:rPr lang="et-EE" b="1" dirty="0"/>
              <a:t> </a:t>
            </a:r>
            <a:r>
              <a:rPr lang="et-EE" b="1" dirty="0" err="1"/>
              <a:t>Kaufman</a:t>
            </a:r>
            <a:r>
              <a:rPr lang="et-EE" b="1" dirty="0"/>
              <a:t> </a:t>
            </a:r>
            <a:r>
              <a:rPr lang="et-EE" dirty="0"/>
              <a:t>(1988) </a:t>
            </a:r>
            <a:r>
              <a:rPr lang="et-EE" i="1" dirty="0" err="1"/>
              <a:t>Language</a:t>
            </a:r>
            <a:r>
              <a:rPr lang="et-EE" i="1" dirty="0"/>
              <a:t> </a:t>
            </a:r>
            <a:r>
              <a:rPr lang="et-EE" i="1" dirty="0" err="1"/>
              <a:t>Contact</a:t>
            </a:r>
            <a:r>
              <a:rPr lang="et-EE" i="1" dirty="0"/>
              <a:t>, </a:t>
            </a:r>
            <a:r>
              <a:rPr lang="et-EE" i="1" dirty="0" err="1"/>
              <a:t>Creolization</a:t>
            </a:r>
            <a:r>
              <a:rPr lang="et-EE" i="1" dirty="0"/>
              <a:t>, and </a:t>
            </a:r>
            <a:r>
              <a:rPr lang="et-EE" i="1" dirty="0" err="1"/>
              <a:t>Genetic</a:t>
            </a:r>
            <a:r>
              <a:rPr lang="et-EE" i="1" dirty="0"/>
              <a:t> </a:t>
            </a:r>
            <a:r>
              <a:rPr lang="et-EE" i="1" dirty="0" err="1"/>
              <a:t>Linguistics</a:t>
            </a:r>
            <a:r>
              <a:rPr lang="et-EE" i="1" dirty="0"/>
              <a:t>.</a:t>
            </a:r>
            <a:r>
              <a:rPr lang="et-EE" dirty="0"/>
              <a:t> </a:t>
            </a:r>
            <a:r>
              <a:rPr lang="et-EE" dirty="0" err="1"/>
              <a:t>Berkely</a:t>
            </a:r>
            <a:r>
              <a:rPr lang="et-EE" dirty="0"/>
              <a:t> &amp; Los Angeles: </a:t>
            </a:r>
            <a:r>
              <a:rPr lang="et-EE" dirty="0" err="1"/>
              <a:t>University</a:t>
            </a:r>
            <a:r>
              <a:rPr lang="et-EE" dirty="0"/>
              <a:t> of California Press.</a:t>
            </a:r>
          </a:p>
          <a:p>
            <a:pPr lvl="0"/>
            <a:r>
              <a:rPr lang="en-GB" dirty="0"/>
              <a:t>They postulated that the process and outcome of contact situation depends on whether it is </a:t>
            </a:r>
            <a:r>
              <a:rPr lang="en-GB" b="1" dirty="0"/>
              <a:t>language maintenance </a:t>
            </a:r>
            <a:r>
              <a:rPr lang="en-GB" dirty="0"/>
              <a:t>or </a:t>
            </a:r>
            <a:r>
              <a:rPr lang="en-GB" b="1" dirty="0"/>
              <a:t>language shift</a:t>
            </a:r>
          </a:p>
        </p:txBody>
      </p:sp>
    </p:spTree>
    <p:extLst>
      <p:ext uri="{BB962C8B-B14F-4D97-AF65-F5344CB8AC3E}">
        <p14:creationId xmlns:p14="http://schemas.microsoft.com/office/powerpoint/2010/main" val="3667173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Maintenance vs. shift</a:t>
            </a:r>
          </a:p>
        </p:txBody>
      </p:sp>
      <p:sp>
        <p:nvSpPr>
          <p:cNvPr id="3" name="Content Placeholder 2"/>
          <p:cNvSpPr>
            <a:spLocks noGrp="1"/>
          </p:cNvSpPr>
          <p:nvPr>
            <p:ph idx="1"/>
          </p:nvPr>
        </p:nvSpPr>
        <p:spPr/>
        <p:txBody>
          <a:bodyPr>
            <a:normAutofit/>
          </a:bodyPr>
          <a:lstStyle/>
          <a:p>
            <a:pPr lvl="0"/>
            <a:r>
              <a:rPr lang="en-GB" dirty="0"/>
              <a:t>Language maintenance and language shift are completely different situations. Which of them takes place, depends on </a:t>
            </a:r>
            <a:r>
              <a:rPr lang="en-GB" b="1" dirty="0"/>
              <a:t>extra-linguistic factors </a:t>
            </a:r>
          </a:p>
          <a:p>
            <a:pPr lvl="0"/>
            <a:r>
              <a:rPr lang="en-GB" dirty="0"/>
              <a:t>Different mechanisms of language change. Changes start on different language levels and produce different results</a:t>
            </a:r>
            <a:endParaRPr lang="et-EE" dirty="0"/>
          </a:p>
          <a:p>
            <a:r>
              <a:rPr lang="en-GB" dirty="0"/>
              <a:t>Attempts to explain and predict contact-induced language change (CILC) with structural features only have failed </a:t>
            </a:r>
          </a:p>
          <a:p>
            <a:r>
              <a:rPr lang="en-GB" dirty="0"/>
              <a:t>In the 1930s and later some tried to predict what can be borrowed and what not based on structures of languages in contact</a:t>
            </a:r>
          </a:p>
        </p:txBody>
      </p:sp>
    </p:spTree>
    <p:extLst>
      <p:ext uri="{BB962C8B-B14F-4D97-AF65-F5344CB8AC3E}">
        <p14:creationId xmlns:p14="http://schemas.microsoft.com/office/powerpoint/2010/main" val="1437645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Which of the two will take place? </a:t>
            </a:r>
          </a:p>
        </p:txBody>
      </p:sp>
      <p:sp>
        <p:nvSpPr>
          <p:cNvPr id="3" name="Content Placeholder 2"/>
          <p:cNvSpPr>
            <a:spLocks noGrp="1"/>
          </p:cNvSpPr>
          <p:nvPr>
            <p:ph idx="1"/>
          </p:nvPr>
        </p:nvSpPr>
        <p:spPr/>
        <p:txBody>
          <a:bodyPr>
            <a:normAutofit/>
          </a:bodyPr>
          <a:lstStyle/>
          <a:p>
            <a:pPr lvl="0"/>
            <a:r>
              <a:rPr lang="et-EE" dirty="0" err="1"/>
              <a:t>Sta</a:t>
            </a:r>
            <a:r>
              <a:rPr lang="en-GB" dirty="0" err="1"/>
              <a:t>tus</a:t>
            </a:r>
            <a:r>
              <a:rPr lang="et-EE" dirty="0"/>
              <a:t>: </a:t>
            </a:r>
            <a:r>
              <a:rPr lang="en-GB" dirty="0"/>
              <a:t>speakers may want to shift to a language with a higher sociocultural status. It is not always in favour of majority language (minority can be powerful and its language may have official status)</a:t>
            </a:r>
          </a:p>
          <a:p>
            <a:pPr lvl="0"/>
            <a:r>
              <a:rPr lang="en-GB" dirty="0"/>
              <a:t>Prestige (not the same as status)</a:t>
            </a:r>
            <a:r>
              <a:rPr lang="et-EE" dirty="0"/>
              <a:t>: </a:t>
            </a:r>
            <a:r>
              <a:rPr lang="et-EE" dirty="0" err="1"/>
              <a:t>value</a:t>
            </a:r>
            <a:r>
              <a:rPr lang="et-EE" dirty="0"/>
              <a:t> </a:t>
            </a:r>
            <a:r>
              <a:rPr lang="et-EE" dirty="0" err="1"/>
              <a:t>for</a:t>
            </a:r>
            <a:r>
              <a:rPr lang="et-EE" dirty="0"/>
              <a:t> </a:t>
            </a:r>
            <a:r>
              <a:rPr lang="et-EE" dirty="0" err="1"/>
              <a:t>the</a:t>
            </a:r>
            <a:r>
              <a:rPr lang="et-EE" dirty="0"/>
              <a:t> </a:t>
            </a:r>
            <a:r>
              <a:rPr lang="et-EE" dirty="0" err="1"/>
              <a:t>speakers</a:t>
            </a:r>
            <a:r>
              <a:rPr lang="et-EE" dirty="0"/>
              <a:t>.</a:t>
            </a:r>
            <a:r>
              <a:rPr lang="en-GB" dirty="0"/>
              <a:t> No matter how small the number of speakers is, if they value their language</a:t>
            </a:r>
            <a:r>
              <a:rPr lang="et-EE" dirty="0"/>
              <a:t>, </a:t>
            </a:r>
            <a:r>
              <a:rPr lang="en-GB" dirty="0"/>
              <a:t>shift is unlikely</a:t>
            </a:r>
            <a:r>
              <a:rPr lang="et-EE" dirty="0"/>
              <a:t> (</a:t>
            </a:r>
            <a:r>
              <a:rPr lang="et-EE" dirty="0" err="1"/>
              <a:t>but</a:t>
            </a:r>
            <a:r>
              <a:rPr lang="et-EE" dirty="0"/>
              <a:t> see o</a:t>
            </a:r>
            <a:r>
              <a:rPr lang="en-GB" dirty="0" err="1"/>
              <a:t>ther</a:t>
            </a:r>
            <a:r>
              <a:rPr lang="en-GB" dirty="0"/>
              <a:t> </a:t>
            </a:r>
            <a:r>
              <a:rPr lang="et-EE" dirty="0" err="1"/>
              <a:t>factors</a:t>
            </a:r>
            <a:r>
              <a:rPr lang="et-EE" dirty="0"/>
              <a:t>)</a:t>
            </a:r>
            <a:endParaRPr lang="en-GB" dirty="0"/>
          </a:p>
          <a:p>
            <a:pPr lvl="0"/>
            <a:r>
              <a:rPr lang="en-GB" dirty="0"/>
              <a:t>Environment: social networks, language of friends, work etc.</a:t>
            </a:r>
            <a:endParaRPr lang="et-EE" dirty="0"/>
          </a:p>
          <a:p>
            <a:pPr lvl="0"/>
            <a:r>
              <a:rPr lang="en-GB" dirty="0"/>
              <a:t>Individual preferences (a wish to belong/to leave)</a:t>
            </a:r>
            <a:endParaRPr lang="et-EE" dirty="0"/>
          </a:p>
          <a:p>
            <a:pPr marL="0" lvl="0" indent="0">
              <a:buNone/>
            </a:pPr>
            <a:endParaRPr lang="en-GB" dirty="0"/>
          </a:p>
        </p:txBody>
      </p:sp>
    </p:spTree>
    <p:extLst>
      <p:ext uri="{BB962C8B-B14F-4D97-AF65-F5344CB8AC3E}">
        <p14:creationId xmlns:p14="http://schemas.microsoft.com/office/powerpoint/2010/main" val="2324368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CILC may be </a:t>
            </a:r>
            <a:r>
              <a:rPr lang="en-GB" dirty="0" err="1"/>
              <a:t>uni</a:t>
            </a:r>
            <a:r>
              <a:rPr lang="en-GB" dirty="0"/>
              <a:t>- and bidirectional</a:t>
            </a:r>
          </a:p>
        </p:txBody>
      </p:sp>
      <p:sp>
        <p:nvSpPr>
          <p:cNvPr id="3" name="Content Placeholder 2"/>
          <p:cNvSpPr>
            <a:spLocks noGrp="1"/>
          </p:cNvSpPr>
          <p:nvPr>
            <p:ph idx="1"/>
          </p:nvPr>
        </p:nvSpPr>
        <p:spPr/>
        <p:txBody>
          <a:bodyPr>
            <a:normAutofit fontScale="92500" lnSpcReduction="10000"/>
          </a:bodyPr>
          <a:lstStyle/>
          <a:p>
            <a:pPr lvl="0"/>
            <a:r>
              <a:rPr lang="en-GB" dirty="0"/>
              <a:t>Language with higher status can borrow lexicon from the language with low status (Baltic German borrowed from Estonian and Latvian)</a:t>
            </a:r>
            <a:endParaRPr lang="et-EE" dirty="0"/>
          </a:p>
          <a:p>
            <a:pPr lvl="0"/>
            <a:r>
              <a:rPr lang="en-GB" dirty="0"/>
              <a:t>Unidirectional changes (or when one direction clearly prevails) occur when bilingualism is </a:t>
            </a:r>
            <a:r>
              <a:rPr lang="en-GB" b="1" dirty="0"/>
              <a:t>asymmetrical </a:t>
            </a:r>
            <a:r>
              <a:rPr lang="en-GB" dirty="0"/>
              <a:t>(one group is more and the other less bilingual). But real situations are more complex</a:t>
            </a:r>
          </a:p>
          <a:p>
            <a:pPr lvl="0"/>
            <a:r>
              <a:rPr lang="en-GB" dirty="0"/>
              <a:t>(Low) German has affected Estonian and Latvian lexicon </a:t>
            </a:r>
            <a:r>
              <a:rPr lang="et-EE" dirty="0"/>
              <a:t>(</a:t>
            </a:r>
            <a:r>
              <a:rPr lang="et-EE" i="1" dirty="0"/>
              <a:t>tool</a:t>
            </a:r>
            <a:r>
              <a:rPr lang="en-GB" i="1" dirty="0"/>
              <a:t> </a:t>
            </a:r>
            <a:r>
              <a:rPr lang="en-GB" dirty="0"/>
              <a:t>‘chair’,</a:t>
            </a:r>
            <a:r>
              <a:rPr lang="et-EE" i="1" dirty="0"/>
              <a:t> praalima</a:t>
            </a:r>
            <a:r>
              <a:rPr lang="en-GB" i="1" dirty="0"/>
              <a:t> </a:t>
            </a:r>
            <a:r>
              <a:rPr lang="en-GB" dirty="0"/>
              <a:t>‘to boast’) and also word order and some patterns (verbs like </a:t>
            </a:r>
            <a:r>
              <a:rPr lang="en-GB" i="1" dirty="0" err="1"/>
              <a:t>üles</a:t>
            </a:r>
            <a:r>
              <a:rPr lang="en-GB" i="1" dirty="0"/>
              <a:t> </a:t>
            </a:r>
            <a:r>
              <a:rPr lang="en-GB" i="1" dirty="0" err="1"/>
              <a:t>kirjutama</a:t>
            </a:r>
            <a:r>
              <a:rPr lang="en-GB" dirty="0"/>
              <a:t> ‘to write down’ &lt; </a:t>
            </a:r>
            <a:r>
              <a:rPr lang="en-GB" i="1" dirty="0" err="1"/>
              <a:t>aufschreiben</a:t>
            </a:r>
            <a:r>
              <a:rPr lang="en-GB" dirty="0"/>
              <a:t>) </a:t>
            </a:r>
          </a:p>
          <a:p>
            <a:pPr lvl="0"/>
            <a:r>
              <a:rPr lang="en-GB" dirty="0"/>
              <a:t>Baltic German has lexicon from Estonian, Latvian (and also Livonian, Russian, Yiddish). General impact of </a:t>
            </a:r>
            <a:r>
              <a:rPr lang="en-GB" dirty="0" err="1"/>
              <a:t>Finnic</a:t>
            </a:r>
            <a:r>
              <a:rPr lang="en-GB" dirty="0"/>
              <a:t> languages appears in Baltic German sound system (phonology)</a:t>
            </a:r>
          </a:p>
        </p:txBody>
      </p:sp>
    </p:spTree>
    <p:extLst>
      <p:ext uri="{BB962C8B-B14F-4D97-AF65-F5344CB8AC3E}">
        <p14:creationId xmlns:p14="http://schemas.microsoft.com/office/powerpoint/2010/main" val="410833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Some extra-linguistic factors to consider</a:t>
            </a:r>
          </a:p>
        </p:txBody>
      </p:sp>
      <p:sp>
        <p:nvSpPr>
          <p:cNvPr id="3" name="Content Placeholder 2"/>
          <p:cNvSpPr>
            <a:spLocks noGrp="1"/>
          </p:cNvSpPr>
          <p:nvPr>
            <p:ph idx="1"/>
          </p:nvPr>
        </p:nvSpPr>
        <p:spPr/>
        <p:txBody>
          <a:bodyPr/>
          <a:lstStyle/>
          <a:p>
            <a:pPr lvl="0"/>
            <a:r>
              <a:rPr lang="en-GB" dirty="0"/>
              <a:t>Duration of contacts</a:t>
            </a:r>
          </a:p>
          <a:p>
            <a:pPr lvl="0"/>
            <a:r>
              <a:rPr lang="en-GB" dirty="0"/>
              <a:t>Spread of bi- and multilingualism (who is bilingual, how many members of language communities are bilingual, how often they are in contact with the other community etc.) </a:t>
            </a:r>
          </a:p>
          <a:p>
            <a:pPr lvl="0"/>
            <a:r>
              <a:rPr lang="en-GB" dirty="0"/>
              <a:t>Sociocultural pressure (or lack thereof) – overt stigmatization, negative attitudes, few if any opportunities to use the language outside home (&gt; internalization of negative attitude).</a:t>
            </a:r>
          </a:p>
          <a:p>
            <a:pPr lvl="0"/>
            <a:r>
              <a:rPr lang="en-GB" dirty="0"/>
              <a:t>But sometimes even when there is no sociocultural pressure, the speakers may shift to another language for practical reasons</a:t>
            </a:r>
          </a:p>
        </p:txBody>
      </p:sp>
    </p:spTree>
    <p:extLst>
      <p:ext uri="{BB962C8B-B14F-4D97-AF65-F5344CB8AC3E}">
        <p14:creationId xmlns:p14="http://schemas.microsoft.com/office/powerpoint/2010/main" val="2162336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Size of speech community in and by itself does not predict language maintenance or shift </a:t>
            </a:r>
          </a:p>
          <a:p>
            <a:r>
              <a:rPr lang="en-GB" dirty="0"/>
              <a:t>Community awareness, language planning, language ideology may prevent some kind of change (purism, wish to prevent borrowing; preference to borrowing from a certain language etc.)</a:t>
            </a:r>
          </a:p>
        </p:txBody>
      </p:sp>
    </p:spTree>
    <p:extLst>
      <p:ext uri="{BB962C8B-B14F-4D97-AF65-F5344CB8AC3E}">
        <p14:creationId xmlns:p14="http://schemas.microsoft.com/office/powerpoint/2010/main" val="3271514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Language maintenance</a:t>
            </a:r>
          </a:p>
        </p:txBody>
      </p:sp>
      <p:sp>
        <p:nvSpPr>
          <p:cNvPr id="3" name="Content Placeholder 2"/>
          <p:cNvSpPr>
            <a:spLocks noGrp="1"/>
          </p:cNvSpPr>
          <p:nvPr>
            <p:ph idx="1"/>
          </p:nvPr>
        </p:nvSpPr>
        <p:spPr/>
        <p:txBody>
          <a:bodyPr>
            <a:normAutofit fontScale="92500" lnSpcReduction="20000"/>
          </a:bodyPr>
          <a:lstStyle/>
          <a:p>
            <a:pPr lvl="0"/>
            <a:r>
              <a:rPr lang="en-GB" b="1" dirty="0"/>
              <a:t>Does not mean that there is no change</a:t>
            </a:r>
            <a:r>
              <a:rPr lang="en-GB" dirty="0"/>
              <a:t>! See previous lecture, fragment from Middle English. Life, technology, culture, environment change; some languages do not make impact anymore (German in Estonia and Latvia), other influencers come (English)</a:t>
            </a:r>
          </a:p>
          <a:p>
            <a:pPr lvl="0"/>
            <a:r>
              <a:rPr lang="en-GB" dirty="0"/>
              <a:t>The main mechanism is </a:t>
            </a:r>
            <a:r>
              <a:rPr lang="en-GB" b="1" dirty="0"/>
              <a:t>borrowing </a:t>
            </a:r>
            <a:r>
              <a:rPr lang="en-GB" dirty="0"/>
              <a:t>(in a broad sense, that is, lexicon, structures, intonation, sounds, sound combinations, functions patterns) </a:t>
            </a:r>
          </a:p>
          <a:p>
            <a:pPr lvl="0"/>
            <a:r>
              <a:rPr lang="en-GB" b="1" dirty="0"/>
              <a:t>Lexical borrowing (“words”) </a:t>
            </a:r>
            <a:r>
              <a:rPr lang="en-GB" dirty="0"/>
              <a:t>is first to occur. Does not require much bilingualism or very high proficiency in another language</a:t>
            </a:r>
          </a:p>
          <a:p>
            <a:pPr lvl="0"/>
            <a:r>
              <a:rPr lang="en-GB" dirty="0"/>
              <a:t>Does not start with the basic vocabulary (although the latter is hard to define) </a:t>
            </a:r>
          </a:p>
          <a:p>
            <a:pPr lvl="0"/>
            <a:r>
              <a:rPr lang="en-GB" dirty="0"/>
              <a:t>May be cultural loans (new phenomena, artefacts, names of foods, customs – local Russians know and use </a:t>
            </a:r>
            <a:r>
              <a:rPr lang="en-GB" i="1" dirty="0" err="1"/>
              <a:t>jaanipäev</a:t>
            </a:r>
            <a:r>
              <a:rPr lang="en-GB" dirty="0"/>
              <a:t> ‘midsummer day’, </a:t>
            </a:r>
            <a:r>
              <a:rPr lang="en-GB" i="1" dirty="0" err="1"/>
              <a:t>verivorst</a:t>
            </a:r>
            <a:r>
              <a:rPr lang="en-GB" dirty="0"/>
              <a:t> ‘blood sausage’ and the likes) but not only! </a:t>
            </a:r>
          </a:p>
        </p:txBody>
      </p:sp>
    </p:spTree>
    <p:extLst>
      <p:ext uri="{BB962C8B-B14F-4D97-AF65-F5344CB8AC3E}">
        <p14:creationId xmlns:p14="http://schemas.microsoft.com/office/powerpoint/2010/main" val="326785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dirty="0"/>
              <a:t>More intensive contacts (longer duration, more bilingual users) may bring about changes in phonology (new sounds, combinations, intonation patterns). What was previously impossible is now possible (because users’ perception has changed) </a:t>
            </a:r>
          </a:p>
          <a:p>
            <a:r>
              <a:rPr lang="en-GB" dirty="0"/>
              <a:t>Consider avoidance of two or more consonants in older borrowings: </a:t>
            </a:r>
            <a:r>
              <a:rPr lang="en-GB" i="1" dirty="0" err="1"/>
              <a:t>kool</a:t>
            </a:r>
            <a:r>
              <a:rPr lang="en-GB" i="1" dirty="0"/>
              <a:t> </a:t>
            </a:r>
            <a:r>
              <a:rPr lang="en-GB" dirty="0"/>
              <a:t>‘school’ (&lt; Low German </a:t>
            </a:r>
            <a:r>
              <a:rPr lang="en-GB" i="1" dirty="0" err="1"/>
              <a:t>sk</a:t>
            </a:r>
            <a:r>
              <a:rPr lang="en-GB" i="1" dirty="0" err="1">
                <a:latin typeface="Bookman Old Style" panose="02050604050505020204" pitchFamily="18" charset="0"/>
              </a:rPr>
              <a:t>ô</a:t>
            </a:r>
            <a:r>
              <a:rPr lang="en-GB" i="1" dirty="0" err="1"/>
              <a:t>le</a:t>
            </a:r>
            <a:r>
              <a:rPr lang="en-GB" dirty="0"/>
              <a:t>), </a:t>
            </a:r>
            <a:r>
              <a:rPr lang="en-GB" i="1" dirty="0"/>
              <a:t>rand</a:t>
            </a:r>
            <a:r>
              <a:rPr lang="en-GB" dirty="0"/>
              <a:t> (Baltic </a:t>
            </a:r>
            <a:r>
              <a:rPr lang="en-GB" i="1" dirty="0" err="1"/>
              <a:t>krantas</a:t>
            </a:r>
            <a:r>
              <a:rPr lang="en-GB" dirty="0"/>
              <a:t>) and </a:t>
            </a:r>
            <a:r>
              <a:rPr lang="et-EE" dirty="0" err="1"/>
              <a:t>later</a:t>
            </a:r>
            <a:r>
              <a:rPr lang="en-GB" dirty="0"/>
              <a:t> borrowings: </a:t>
            </a:r>
            <a:r>
              <a:rPr lang="et-EE" i="1" dirty="0"/>
              <a:t>praalima</a:t>
            </a:r>
            <a:r>
              <a:rPr lang="en-GB" dirty="0"/>
              <a:t> ‘to boast’,</a:t>
            </a:r>
            <a:r>
              <a:rPr lang="et-EE" dirty="0"/>
              <a:t> </a:t>
            </a:r>
            <a:r>
              <a:rPr lang="et-EE" i="1" dirty="0"/>
              <a:t>kraam</a:t>
            </a:r>
            <a:r>
              <a:rPr lang="en-GB" dirty="0"/>
              <a:t> ‘stuff, things’. Or </a:t>
            </a:r>
            <a:r>
              <a:rPr lang="et-EE" i="1" dirty="0"/>
              <a:t>f</a:t>
            </a:r>
            <a:r>
              <a:rPr lang="et-EE" dirty="0"/>
              <a:t> </a:t>
            </a:r>
            <a:r>
              <a:rPr lang="en-GB" dirty="0"/>
              <a:t>in older and newer borrowings</a:t>
            </a:r>
            <a:r>
              <a:rPr lang="et-EE" dirty="0"/>
              <a:t> –</a:t>
            </a:r>
            <a:r>
              <a:rPr lang="et-EE" i="1" dirty="0" err="1"/>
              <a:t>hv</a:t>
            </a:r>
            <a:r>
              <a:rPr lang="et-EE" dirty="0"/>
              <a:t>- </a:t>
            </a:r>
            <a:r>
              <a:rPr lang="en-GB" dirty="0"/>
              <a:t> </a:t>
            </a:r>
            <a:r>
              <a:rPr lang="en-GB" i="1" dirty="0" err="1"/>
              <a:t>ohvitser</a:t>
            </a:r>
            <a:r>
              <a:rPr lang="en-GB" dirty="0"/>
              <a:t> ‘officer’, </a:t>
            </a:r>
            <a:r>
              <a:rPr lang="en-GB" i="1" dirty="0" err="1"/>
              <a:t>kohv</a:t>
            </a:r>
            <a:r>
              <a:rPr lang="en-GB" dirty="0"/>
              <a:t> ‘coffee’ but</a:t>
            </a:r>
            <a:r>
              <a:rPr lang="et-EE" dirty="0"/>
              <a:t> </a:t>
            </a:r>
            <a:r>
              <a:rPr lang="et-EE" i="1" dirty="0"/>
              <a:t>film</a:t>
            </a:r>
            <a:r>
              <a:rPr lang="en-GB" i="1" dirty="0"/>
              <a:t> </a:t>
            </a:r>
            <a:r>
              <a:rPr lang="en-GB" dirty="0"/>
              <a:t>‘movie’, </a:t>
            </a:r>
            <a:r>
              <a:rPr lang="et-EE" dirty="0"/>
              <a:t> </a:t>
            </a:r>
            <a:r>
              <a:rPr lang="et-EE" i="1" dirty="0"/>
              <a:t>foor</a:t>
            </a:r>
            <a:r>
              <a:rPr lang="en-GB" dirty="0"/>
              <a:t> ‘traffic light’</a:t>
            </a:r>
            <a:r>
              <a:rPr lang="et-EE" dirty="0"/>
              <a:t>.</a:t>
            </a:r>
            <a:endParaRPr lang="en-GB" dirty="0"/>
          </a:p>
        </p:txBody>
      </p:sp>
    </p:spTree>
    <p:extLst>
      <p:ext uri="{BB962C8B-B14F-4D97-AF65-F5344CB8AC3E}">
        <p14:creationId xmlns:p14="http://schemas.microsoft.com/office/powerpoint/2010/main" val="2157303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marL="228600" lvl="1">
              <a:spcBef>
                <a:spcPts val="1000"/>
              </a:spcBef>
            </a:pPr>
            <a:r>
              <a:rPr lang="en-GB" sz="3200" dirty="0"/>
              <a:t>Some structural change may occur as well (word order, constructions) </a:t>
            </a:r>
          </a:p>
          <a:p>
            <a:pPr marL="228600" lvl="1">
              <a:spcBef>
                <a:spcPts val="1000"/>
              </a:spcBef>
            </a:pPr>
            <a:r>
              <a:rPr lang="en-GB" sz="3200" dirty="0"/>
              <a:t>Changes in semantics (meaning, new compound meaning). Estonian</a:t>
            </a:r>
            <a:r>
              <a:rPr lang="et-EE" sz="3200" dirty="0"/>
              <a:t> </a:t>
            </a:r>
            <a:r>
              <a:rPr lang="et-EE" sz="3200" i="1" dirty="0"/>
              <a:t>päeva lõpuks</a:t>
            </a:r>
            <a:r>
              <a:rPr lang="et-EE" sz="3200" dirty="0"/>
              <a:t> &lt; </a:t>
            </a:r>
            <a:r>
              <a:rPr lang="et-EE" sz="3200" i="1" dirty="0"/>
              <a:t>in </a:t>
            </a:r>
            <a:r>
              <a:rPr lang="et-EE" sz="3200" i="1" dirty="0" err="1"/>
              <a:t>the</a:t>
            </a:r>
            <a:r>
              <a:rPr lang="et-EE" sz="3200" i="1" dirty="0"/>
              <a:t> end of </a:t>
            </a:r>
            <a:r>
              <a:rPr lang="et-EE" sz="3200" i="1" dirty="0" err="1"/>
              <a:t>the</a:t>
            </a:r>
            <a:r>
              <a:rPr lang="et-EE" sz="3200" i="1" dirty="0"/>
              <a:t> </a:t>
            </a:r>
            <a:r>
              <a:rPr lang="et-EE" sz="3200" i="1" dirty="0" err="1"/>
              <a:t>day</a:t>
            </a:r>
            <a:endParaRPr lang="en-GB" sz="3200" dirty="0"/>
          </a:p>
          <a:p>
            <a:pPr marL="228600" lvl="1">
              <a:spcBef>
                <a:spcPts val="1000"/>
              </a:spcBef>
            </a:pPr>
            <a:r>
              <a:rPr lang="en-GB" sz="3200" dirty="0"/>
              <a:t>More intensive contacts and massive bilingualism, may cause more profound changes in structures (borrowing of word classes like conjunctions, changes of grammatical </a:t>
            </a:r>
            <a:r>
              <a:rPr lang="en-GB" sz="3200" dirty="0" err="1"/>
              <a:t>fu</a:t>
            </a:r>
            <a:r>
              <a:rPr lang="et-EE" sz="3200" dirty="0"/>
              <a:t>n</a:t>
            </a:r>
            <a:r>
              <a:rPr lang="en-GB" sz="3200" dirty="0" err="1"/>
              <a:t>ctions</a:t>
            </a:r>
            <a:r>
              <a:rPr lang="en-GB" sz="3200" dirty="0"/>
              <a:t>) </a:t>
            </a:r>
          </a:p>
          <a:p>
            <a:pPr marL="228600" lvl="1">
              <a:spcBef>
                <a:spcPts val="1000"/>
              </a:spcBef>
            </a:pPr>
            <a:r>
              <a:rPr lang="en-GB" sz="3200" dirty="0"/>
              <a:t>Does not mean that there are always all stages present. The last </a:t>
            </a:r>
            <a:r>
              <a:rPr lang="et-EE" sz="3200" dirty="0" err="1"/>
              <a:t>stage</a:t>
            </a:r>
            <a:r>
              <a:rPr lang="en-GB" sz="3200" dirty="0"/>
              <a:t> may never occur</a:t>
            </a:r>
            <a:endParaRPr lang="en-GB" dirty="0"/>
          </a:p>
        </p:txBody>
      </p:sp>
    </p:spTree>
    <p:extLst>
      <p:ext uri="{BB962C8B-B14F-4D97-AF65-F5344CB8AC3E}">
        <p14:creationId xmlns:p14="http://schemas.microsoft.com/office/powerpoint/2010/main" val="3196076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Language sift</a:t>
            </a:r>
          </a:p>
        </p:txBody>
      </p:sp>
      <p:sp>
        <p:nvSpPr>
          <p:cNvPr id="3" name="Content Placeholder 2"/>
          <p:cNvSpPr>
            <a:spLocks noGrp="1"/>
          </p:cNvSpPr>
          <p:nvPr>
            <p:ph idx="1"/>
          </p:nvPr>
        </p:nvSpPr>
        <p:spPr/>
        <p:txBody>
          <a:bodyPr/>
          <a:lstStyle/>
          <a:p>
            <a:pPr lvl="0"/>
            <a:r>
              <a:rPr lang="en-GB" dirty="0"/>
              <a:t>Is </a:t>
            </a:r>
            <a:r>
              <a:rPr lang="en-GB" b="1" dirty="0"/>
              <a:t>similar to second language acquisition (SLA); </a:t>
            </a:r>
            <a:r>
              <a:rPr lang="en-GB" dirty="0"/>
              <a:t>the different is that in SLA one does not abandon L1 (fist language) </a:t>
            </a:r>
          </a:p>
          <a:p>
            <a:pPr lvl="0"/>
            <a:r>
              <a:rPr lang="en-GB" dirty="0"/>
              <a:t>So don’t expect lexical borrowing from L1. We do not try to speak another language with L1 words!</a:t>
            </a:r>
            <a:r>
              <a:rPr lang="et-EE" dirty="0"/>
              <a:t> </a:t>
            </a:r>
          </a:p>
          <a:p>
            <a:pPr lvl="0"/>
            <a:r>
              <a:rPr lang="en-GB" dirty="0"/>
              <a:t>This does not mean impossibility of lexical borrowing but this is neither the first nor main thing to occur </a:t>
            </a:r>
          </a:p>
          <a:p>
            <a:pPr lvl="0"/>
            <a:r>
              <a:rPr lang="en-GB" dirty="0"/>
              <a:t>L1 influence: a trace </a:t>
            </a:r>
            <a:r>
              <a:rPr lang="en-GB" b="1" dirty="0"/>
              <a:t>in sound system (phonology) and grammar </a:t>
            </a:r>
            <a:r>
              <a:rPr lang="en-GB" dirty="0"/>
              <a:t>(well known in SLA as L1 transfer)</a:t>
            </a:r>
          </a:p>
        </p:txBody>
      </p:sp>
    </p:spTree>
    <p:extLst>
      <p:ext uri="{BB962C8B-B14F-4D97-AF65-F5344CB8AC3E}">
        <p14:creationId xmlns:p14="http://schemas.microsoft.com/office/powerpoint/2010/main" val="1049434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20000"/>
          </a:bodyPr>
          <a:lstStyle/>
          <a:p>
            <a:pPr marL="228600" lvl="1">
              <a:spcBef>
                <a:spcPts val="1000"/>
              </a:spcBef>
            </a:pPr>
            <a:r>
              <a:rPr lang="en-GB" sz="3600" dirty="0"/>
              <a:t>If there are many language shifters, their version of the new language may affect the mainstream version </a:t>
            </a:r>
          </a:p>
          <a:p>
            <a:pPr marL="228600" lvl="1">
              <a:spcBef>
                <a:spcPts val="1000"/>
              </a:spcBef>
            </a:pPr>
            <a:r>
              <a:rPr lang="en-GB" sz="3600" dirty="0"/>
              <a:t>Latvian construction </a:t>
            </a:r>
            <a:r>
              <a:rPr lang="et-EE" sz="3600" i="1" dirty="0"/>
              <a:t>man </a:t>
            </a:r>
            <a:r>
              <a:rPr lang="et-EE" sz="3600" i="1" dirty="0" err="1"/>
              <a:t>ir</a:t>
            </a:r>
            <a:r>
              <a:rPr lang="et-EE" sz="3600" dirty="0"/>
              <a:t> </a:t>
            </a:r>
            <a:r>
              <a:rPr lang="en-GB" sz="3600" dirty="0"/>
              <a:t>(functions like Estonian </a:t>
            </a:r>
            <a:r>
              <a:rPr lang="et-EE" sz="3600" i="1" dirty="0"/>
              <a:t>mul on</a:t>
            </a:r>
            <a:r>
              <a:rPr lang="en-GB" sz="3600" i="1" dirty="0"/>
              <a:t> </a:t>
            </a:r>
            <a:r>
              <a:rPr lang="en-GB" sz="3600" dirty="0"/>
              <a:t>‘I have’, literally, ‘to/at me is’) is a trace of language shift from </a:t>
            </a:r>
            <a:r>
              <a:rPr lang="en-GB" sz="3600" dirty="0" err="1"/>
              <a:t>Finnic</a:t>
            </a:r>
            <a:r>
              <a:rPr lang="en-GB" sz="3600" dirty="0"/>
              <a:t> (South Estonian, </a:t>
            </a:r>
            <a:r>
              <a:rPr lang="en-GB" sz="3600" dirty="0" err="1"/>
              <a:t>Livionian</a:t>
            </a:r>
            <a:r>
              <a:rPr lang="en-GB" sz="3600" dirty="0"/>
              <a:t>). Traditional Baltic construction is like in English and German (</a:t>
            </a:r>
            <a:r>
              <a:rPr lang="en-GB" sz="3600" i="1" dirty="0"/>
              <a:t>I have, ich </a:t>
            </a:r>
            <a:r>
              <a:rPr lang="en-GB" sz="3600" i="1" dirty="0" err="1"/>
              <a:t>habe</a:t>
            </a:r>
            <a:r>
              <a:rPr lang="en-GB" sz="3600" i="1" dirty="0"/>
              <a:t> </a:t>
            </a:r>
            <a:r>
              <a:rPr lang="en-GB" sz="3600" dirty="0"/>
              <a:t>etc., preserved in Lithuanian</a:t>
            </a:r>
            <a:r>
              <a:rPr lang="et-EE" sz="3600" dirty="0"/>
              <a:t> </a:t>
            </a:r>
            <a:r>
              <a:rPr lang="et-EE" sz="3600" i="1" dirty="0" err="1"/>
              <a:t>aš</a:t>
            </a:r>
            <a:r>
              <a:rPr lang="et-EE" sz="3600" i="1" dirty="0"/>
              <a:t> </a:t>
            </a:r>
            <a:r>
              <a:rPr lang="et-EE" sz="3600" i="1" dirty="0" err="1"/>
              <a:t>turiu</a:t>
            </a:r>
            <a:r>
              <a:rPr lang="en-GB" sz="3600" dirty="0"/>
              <a:t>)</a:t>
            </a:r>
          </a:p>
          <a:p>
            <a:pPr marL="228600" lvl="1">
              <a:spcBef>
                <a:spcPts val="1000"/>
              </a:spcBef>
            </a:pPr>
            <a:r>
              <a:rPr lang="en-GB" sz="3600" dirty="0"/>
              <a:t>Also fixed stress on the first syllable</a:t>
            </a:r>
          </a:p>
          <a:p>
            <a:pPr marL="228600" lvl="1">
              <a:spcBef>
                <a:spcPts val="1000"/>
              </a:spcBef>
            </a:pPr>
            <a:r>
              <a:rPr lang="en-GB" sz="3600" dirty="0"/>
              <a:t>In some Latvian dialects gender category has collapsed (no difference between masculine and feminine)</a:t>
            </a:r>
          </a:p>
          <a:p>
            <a:endParaRPr lang="en-GB" dirty="0"/>
          </a:p>
        </p:txBody>
      </p:sp>
    </p:spTree>
    <p:extLst>
      <p:ext uri="{BB962C8B-B14F-4D97-AF65-F5344CB8AC3E}">
        <p14:creationId xmlns:p14="http://schemas.microsoft.com/office/powerpoint/2010/main" val="4145286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Reasons for language shift</a:t>
            </a:r>
          </a:p>
        </p:txBody>
      </p:sp>
      <p:sp>
        <p:nvSpPr>
          <p:cNvPr id="3" name="Content Placeholder 2"/>
          <p:cNvSpPr>
            <a:spLocks noGrp="1"/>
          </p:cNvSpPr>
          <p:nvPr>
            <p:ph idx="1"/>
          </p:nvPr>
        </p:nvSpPr>
        <p:spPr/>
        <p:txBody>
          <a:bodyPr>
            <a:normAutofit lnSpcReduction="10000"/>
          </a:bodyPr>
          <a:lstStyle/>
          <a:p>
            <a:pPr lvl="0"/>
            <a:r>
              <a:rPr lang="en-GB" dirty="0"/>
              <a:t>Is not in borrowing and impact of another language! </a:t>
            </a:r>
          </a:p>
          <a:p>
            <a:pPr lvl="0"/>
            <a:r>
              <a:rPr lang="en-GB" b="1" dirty="0"/>
              <a:t>Languages do not die from borrowing! </a:t>
            </a:r>
          </a:p>
          <a:p>
            <a:pPr lvl="0"/>
            <a:r>
              <a:rPr lang="en-GB" dirty="0"/>
              <a:t>Reasons for language shift are of extra-linguistic and </a:t>
            </a:r>
            <a:r>
              <a:rPr lang="en-GB" dirty="0" err="1"/>
              <a:t>sociopsychological</a:t>
            </a:r>
            <a:r>
              <a:rPr lang="en-GB" dirty="0"/>
              <a:t> nature </a:t>
            </a:r>
          </a:p>
          <a:p>
            <a:pPr lvl="0"/>
            <a:r>
              <a:rPr lang="en-GB" dirty="0"/>
              <a:t>The number of borrowings in lexicon and structure is not a predictor of language maintenance or shift </a:t>
            </a:r>
          </a:p>
          <a:p>
            <a:pPr lvl="0"/>
            <a:r>
              <a:rPr lang="en-GB" dirty="0"/>
              <a:t>In modern Estonian, about 20 % of stems are borrowed from varieties of German (Low German, High German, Baltic German) </a:t>
            </a:r>
          </a:p>
          <a:p>
            <a:pPr lvl="0"/>
            <a:r>
              <a:rPr lang="en-GB" dirty="0"/>
              <a:t>Language shift (and language death) occur because </a:t>
            </a:r>
            <a:r>
              <a:rPr lang="en-GB" b="1" dirty="0"/>
              <a:t>users decide to abandon their L1</a:t>
            </a:r>
          </a:p>
        </p:txBody>
      </p:sp>
    </p:spTree>
    <p:extLst>
      <p:ext uri="{BB962C8B-B14F-4D97-AF65-F5344CB8AC3E}">
        <p14:creationId xmlns:p14="http://schemas.microsoft.com/office/powerpoint/2010/main" val="1404630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Emergence of new languages</a:t>
            </a:r>
          </a:p>
        </p:txBody>
      </p:sp>
      <p:sp>
        <p:nvSpPr>
          <p:cNvPr id="3" name="Content Placeholder 2"/>
          <p:cNvSpPr>
            <a:spLocks noGrp="1"/>
          </p:cNvSpPr>
          <p:nvPr>
            <p:ph idx="1"/>
          </p:nvPr>
        </p:nvSpPr>
        <p:spPr/>
        <p:txBody>
          <a:bodyPr>
            <a:normAutofit/>
          </a:bodyPr>
          <a:lstStyle/>
          <a:p>
            <a:pPr lvl="0"/>
            <a:r>
              <a:rPr lang="en-GB" dirty="0"/>
              <a:t>It is not the same as emergence of new varieties (Finland Swedish, Estonia’s Russian and the like</a:t>
            </a:r>
            <a:r>
              <a:rPr lang="et-EE" dirty="0"/>
              <a:t>)</a:t>
            </a:r>
          </a:p>
          <a:p>
            <a:pPr lvl="0"/>
            <a:r>
              <a:rPr lang="en-GB" b="1" dirty="0"/>
              <a:t>Pidgin</a:t>
            </a:r>
            <a:r>
              <a:rPr lang="et-EE" b="1" dirty="0"/>
              <a:t>s, </a:t>
            </a:r>
            <a:r>
              <a:rPr lang="en-GB" b="1" dirty="0"/>
              <a:t>creoles </a:t>
            </a:r>
            <a:r>
              <a:rPr lang="et-EE" b="1" dirty="0"/>
              <a:t>and </a:t>
            </a:r>
            <a:r>
              <a:rPr lang="et-EE" b="1" dirty="0" err="1"/>
              <a:t>mixed</a:t>
            </a:r>
            <a:r>
              <a:rPr lang="et-EE" b="1" dirty="0"/>
              <a:t> </a:t>
            </a:r>
            <a:r>
              <a:rPr lang="et-EE" b="1" dirty="0" err="1"/>
              <a:t>languages</a:t>
            </a:r>
            <a:r>
              <a:rPr lang="et-EE" b="1" dirty="0"/>
              <a:t> </a:t>
            </a:r>
            <a:r>
              <a:rPr lang="en-GB" dirty="0"/>
              <a:t>emerge under specific sociolinguistic circumstances </a:t>
            </a:r>
          </a:p>
          <a:p>
            <a:pPr lvl="0"/>
            <a:r>
              <a:rPr lang="en-GB" dirty="0"/>
              <a:t>It is wrong to label learner’s varieties or instances of spontaneous multilingual communication </a:t>
            </a:r>
            <a:endParaRPr lang="et-EE" dirty="0"/>
          </a:p>
        </p:txBody>
      </p:sp>
    </p:spTree>
    <p:extLst>
      <p:ext uri="{BB962C8B-B14F-4D97-AF65-F5344CB8AC3E}">
        <p14:creationId xmlns:p14="http://schemas.microsoft.com/office/powerpoint/2010/main" val="650260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Specific sociolinguistic situation</a:t>
            </a:r>
          </a:p>
        </p:txBody>
      </p:sp>
      <p:sp>
        <p:nvSpPr>
          <p:cNvPr id="3" name="Content Placeholder 2"/>
          <p:cNvSpPr>
            <a:spLocks noGrp="1"/>
          </p:cNvSpPr>
          <p:nvPr>
            <p:ph idx="1"/>
          </p:nvPr>
        </p:nvSpPr>
        <p:spPr/>
        <p:txBody>
          <a:bodyPr>
            <a:normAutofit fontScale="92500"/>
          </a:bodyPr>
          <a:lstStyle/>
          <a:p>
            <a:pPr lvl="0"/>
            <a:r>
              <a:rPr lang="en-GB" dirty="0"/>
              <a:t>Pidgins emerged mostly in </a:t>
            </a:r>
            <a:r>
              <a:rPr lang="en-GB" b="1" dirty="0"/>
              <a:t>colonial situation </a:t>
            </a:r>
            <a:r>
              <a:rPr lang="en-GB" dirty="0"/>
              <a:t>on the basis of some European language (English, French, Portuguese, Dutch) but also Arabic.  Or it is </a:t>
            </a:r>
            <a:r>
              <a:rPr lang="en-GB" b="1" dirty="0"/>
              <a:t>trading situation </a:t>
            </a:r>
            <a:r>
              <a:rPr lang="en-GB" dirty="0"/>
              <a:t>(Russian-Norwegian pidgin, Russian-Chinese pidgins</a:t>
            </a:r>
            <a:r>
              <a:rPr lang="et-EE" dirty="0"/>
              <a:t>, </a:t>
            </a:r>
            <a:r>
              <a:rPr lang="et-EE" dirty="0" err="1"/>
              <a:t>sometimes</a:t>
            </a:r>
            <a:r>
              <a:rPr lang="et-EE" dirty="0"/>
              <a:t> </a:t>
            </a:r>
            <a:r>
              <a:rPr lang="et-EE" dirty="0" err="1"/>
              <a:t>called</a:t>
            </a:r>
            <a:r>
              <a:rPr lang="et-EE" dirty="0"/>
              <a:t> </a:t>
            </a:r>
            <a:r>
              <a:rPr lang="et-EE" dirty="0" err="1"/>
              <a:t>trade</a:t>
            </a:r>
            <a:r>
              <a:rPr lang="et-EE" dirty="0"/>
              <a:t> </a:t>
            </a:r>
            <a:r>
              <a:rPr lang="et-EE" dirty="0" err="1"/>
              <a:t>pidgins</a:t>
            </a:r>
            <a:r>
              <a:rPr lang="et-EE" dirty="0"/>
              <a:t>)</a:t>
            </a:r>
            <a:endParaRPr lang="en-GB" dirty="0"/>
          </a:p>
          <a:p>
            <a:pPr lvl="0"/>
            <a:r>
              <a:rPr lang="en-GB" dirty="0"/>
              <a:t>No lingua franca and no previous contacts but strong need to communicate </a:t>
            </a:r>
          </a:p>
          <a:p>
            <a:pPr lvl="0"/>
            <a:r>
              <a:rPr lang="en-GB" dirty="0"/>
              <a:t>The means and meanings are negotiable and fluid. Consider tourists in the market. In usual situations this does not develop further. </a:t>
            </a:r>
          </a:p>
          <a:p>
            <a:pPr lvl="0"/>
            <a:r>
              <a:rPr lang="en-GB" dirty="0"/>
              <a:t>A lot of context (you can point, show numbers with fingers and negotiate) </a:t>
            </a:r>
          </a:p>
          <a:p>
            <a:pPr lvl="0"/>
            <a:r>
              <a:rPr lang="en-GB" b="1" dirty="0"/>
              <a:t>Pidgin is nobody’s first or only language! </a:t>
            </a:r>
            <a:endParaRPr lang="en-GB" dirty="0"/>
          </a:p>
        </p:txBody>
      </p:sp>
    </p:spTree>
    <p:extLst>
      <p:ext uri="{BB962C8B-B14F-4D97-AF65-F5344CB8AC3E}">
        <p14:creationId xmlns:p14="http://schemas.microsoft.com/office/powerpoint/2010/main" val="3279656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20000"/>
          </a:bodyPr>
          <a:lstStyle/>
          <a:p>
            <a:r>
              <a:rPr lang="en-GB" dirty="0"/>
              <a:t>At first spontaneous and flexible, later more conventionalized. Rules appear gradually</a:t>
            </a:r>
          </a:p>
          <a:p>
            <a:r>
              <a:rPr lang="en-GB" b="1" dirty="0"/>
              <a:t>Lexicon</a:t>
            </a:r>
            <a:r>
              <a:rPr lang="en-GB" dirty="0"/>
              <a:t> comes from the colonizers’ language (or from the language of customers). The source of lexicon is called lexifier. This is why pidgins may be grouped according to the lexifier: English, French, Arabic etc. based pidgins </a:t>
            </a:r>
            <a:endParaRPr lang="et-EE" dirty="0"/>
          </a:p>
          <a:p>
            <a:r>
              <a:rPr lang="et-EE" b="1" dirty="0" err="1"/>
              <a:t>Gr</a:t>
            </a:r>
            <a:r>
              <a:rPr lang="en-GB" b="1" dirty="0" err="1"/>
              <a:t>ammar</a:t>
            </a:r>
            <a:r>
              <a:rPr lang="en-GB" b="1" dirty="0"/>
              <a:t> </a:t>
            </a:r>
            <a:r>
              <a:rPr lang="et-EE" dirty="0"/>
              <a:t> </a:t>
            </a:r>
            <a:r>
              <a:rPr lang="en-GB" dirty="0"/>
              <a:t>is a compromise or comes from the local language. Lexicon from the lexifier is re-analysed</a:t>
            </a:r>
            <a:endParaRPr lang="et-EE" dirty="0"/>
          </a:p>
          <a:p>
            <a:r>
              <a:rPr lang="et-EE" dirty="0" err="1"/>
              <a:t>Tok</a:t>
            </a:r>
            <a:r>
              <a:rPr lang="et-EE" dirty="0"/>
              <a:t> </a:t>
            </a:r>
            <a:r>
              <a:rPr lang="et-EE" dirty="0" err="1"/>
              <a:t>Pisin</a:t>
            </a:r>
            <a:r>
              <a:rPr lang="et-EE" dirty="0"/>
              <a:t> (</a:t>
            </a:r>
            <a:r>
              <a:rPr lang="en-GB" dirty="0"/>
              <a:t>Papua New Guinea</a:t>
            </a:r>
            <a:r>
              <a:rPr lang="et-EE" dirty="0"/>
              <a:t>) - </a:t>
            </a:r>
            <a:r>
              <a:rPr lang="en-GB" dirty="0"/>
              <a:t>English</a:t>
            </a:r>
            <a:r>
              <a:rPr lang="et-EE" dirty="0"/>
              <a:t> </a:t>
            </a:r>
            <a:r>
              <a:rPr lang="et-EE" i="1" dirty="0" err="1"/>
              <a:t>belong</a:t>
            </a:r>
            <a:r>
              <a:rPr lang="et-EE" dirty="0"/>
              <a:t> &gt; </a:t>
            </a:r>
            <a:r>
              <a:rPr lang="en-GB" dirty="0"/>
              <a:t>marker of owner/origin</a:t>
            </a:r>
            <a:r>
              <a:rPr lang="et-EE" dirty="0"/>
              <a:t>:  </a:t>
            </a:r>
            <a:r>
              <a:rPr lang="et-EE" i="1" dirty="0" err="1"/>
              <a:t>gras</a:t>
            </a:r>
            <a:r>
              <a:rPr lang="et-EE" i="1" dirty="0"/>
              <a:t> </a:t>
            </a:r>
            <a:r>
              <a:rPr lang="et-EE" i="1" dirty="0" err="1"/>
              <a:t>bilong</a:t>
            </a:r>
            <a:r>
              <a:rPr lang="et-EE" i="1" dirty="0"/>
              <a:t> </a:t>
            </a:r>
            <a:r>
              <a:rPr lang="et-EE" i="1" dirty="0" err="1"/>
              <a:t>het</a:t>
            </a:r>
            <a:r>
              <a:rPr lang="et-EE" dirty="0"/>
              <a:t> (</a:t>
            </a:r>
            <a:r>
              <a:rPr lang="et-EE" i="1" dirty="0" err="1"/>
              <a:t>grass</a:t>
            </a:r>
            <a:r>
              <a:rPr lang="et-EE" i="1" dirty="0"/>
              <a:t>,</a:t>
            </a:r>
            <a:r>
              <a:rPr lang="et-EE" dirty="0"/>
              <a:t> </a:t>
            </a:r>
            <a:r>
              <a:rPr lang="et-EE" i="1" dirty="0" err="1"/>
              <a:t>belong</a:t>
            </a:r>
            <a:r>
              <a:rPr lang="et-EE" dirty="0"/>
              <a:t>, </a:t>
            </a:r>
            <a:r>
              <a:rPr lang="et-EE" i="1" dirty="0"/>
              <a:t>head</a:t>
            </a:r>
            <a:r>
              <a:rPr lang="et-EE" dirty="0"/>
              <a:t>) ’</a:t>
            </a:r>
            <a:r>
              <a:rPr lang="en-GB" dirty="0"/>
              <a:t>hair’</a:t>
            </a:r>
            <a:r>
              <a:rPr lang="et-EE" dirty="0"/>
              <a:t>. </a:t>
            </a:r>
          </a:p>
          <a:p>
            <a:r>
              <a:rPr lang="en-GB" dirty="0"/>
              <a:t>Russian</a:t>
            </a:r>
            <a:r>
              <a:rPr lang="et-EE" dirty="0"/>
              <a:t> </a:t>
            </a:r>
            <a:r>
              <a:rPr lang="et-EE" i="1" dirty="0" err="1"/>
              <a:t>место</a:t>
            </a:r>
            <a:r>
              <a:rPr lang="et-EE" dirty="0"/>
              <a:t> ’</a:t>
            </a:r>
            <a:r>
              <a:rPr lang="en-GB" dirty="0"/>
              <a:t>place</a:t>
            </a:r>
            <a:r>
              <a:rPr lang="et-EE" dirty="0"/>
              <a:t>’</a:t>
            </a:r>
            <a:r>
              <a:rPr lang="en-GB" dirty="0"/>
              <a:t>, ‘spot’ in Taimyr pidgin has turned into universal postposition </a:t>
            </a:r>
            <a:r>
              <a:rPr lang="ru-RU" i="1" dirty="0" err="1"/>
              <a:t>тарик</a:t>
            </a:r>
            <a:r>
              <a:rPr lang="ru-RU" i="1" dirty="0"/>
              <a:t> печка место сидит </a:t>
            </a:r>
            <a:r>
              <a:rPr lang="et-EE" dirty="0"/>
              <a:t>‘</a:t>
            </a:r>
            <a:r>
              <a:rPr lang="en-GB" dirty="0"/>
              <a:t>the old man sits near the stove’ (</a:t>
            </a:r>
            <a:r>
              <a:rPr lang="et-EE" dirty="0" err="1"/>
              <a:t>literally</a:t>
            </a:r>
            <a:r>
              <a:rPr lang="et-EE" dirty="0"/>
              <a:t>: ‘</a:t>
            </a:r>
            <a:r>
              <a:rPr lang="et-EE" dirty="0" err="1"/>
              <a:t>old</a:t>
            </a:r>
            <a:r>
              <a:rPr lang="et-EE" dirty="0"/>
              <a:t> man </a:t>
            </a:r>
            <a:r>
              <a:rPr lang="et-EE" dirty="0" err="1"/>
              <a:t>stove</a:t>
            </a:r>
            <a:r>
              <a:rPr lang="et-EE" dirty="0"/>
              <a:t> </a:t>
            </a:r>
            <a:r>
              <a:rPr lang="et-EE" dirty="0" err="1"/>
              <a:t>place</a:t>
            </a:r>
            <a:r>
              <a:rPr lang="et-EE" dirty="0"/>
              <a:t> sits’)</a:t>
            </a:r>
            <a:endParaRPr lang="en-GB" dirty="0"/>
          </a:p>
        </p:txBody>
      </p:sp>
    </p:spTree>
    <p:extLst>
      <p:ext uri="{BB962C8B-B14F-4D97-AF65-F5344CB8AC3E}">
        <p14:creationId xmlns:p14="http://schemas.microsoft.com/office/powerpoint/2010/main" val="4233194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Pidgin &gt; creole</a:t>
            </a:r>
          </a:p>
        </p:txBody>
      </p:sp>
      <p:sp>
        <p:nvSpPr>
          <p:cNvPr id="3" name="Content Placeholder 2"/>
          <p:cNvSpPr>
            <a:spLocks noGrp="1"/>
          </p:cNvSpPr>
          <p:nvPr>
            <p:ph idx="1"/>
          </p:nvPr>
        </p:nvSpPr>
        <p:spPr/>
        <p:txBody>
          <a:bodyPr>
            <a:normAutofit/>
          </a:bodyPr>
          <a:lstStyle/>
          <a:p>
            <a:pPr lvl="0"/>
            <a:r>
              <a:rPr lang="en-GB" dirty="0"/>
              <a:t>If there is no more need to use pidgin (situation changes, no trade, speakers learn each other’s language and so on), pidgin becomes obsolete and disappears </a:t>
            </a:r>
          </a:p>
          <a:p>
            <a:pPr lvl="0"/>
            <a:r>
              <a:rPr lang="en-GB" dirty="0"/>
              <a:t>If it is still used, it </a:t>
            </a:r>
            <a:r>
              <a:rPr lang="et-EE" dirty="0" err="1"/>
              <a:t>expands</a:t>
            </a:r>
            <a:r>
              <a:rPr lang="et-EE" dirty="0"/>
              <a:t> </a:t>
            </a:r>
            <a:r>
              <a:rPr lang="en-GB" dirty="0"/>
              <a:t>(more contexts of use, emergence of grammar, see previous slide) and stabilized. Not so flexible or spontaneous anymore. May become a lingua franca between different groups </a:t>
            </a:r>
          </a:p>
          <a:p>
            <a:pPr lvl="0"/>
            <a:r>
              <a:rPr lang="en-GB" dirty="0"/>
              <a:t>If pidgin is stabilized and </a:t>
            </a:r>
            <a:r>
              <a:rPr lang="en-GB" b="1" dirty="0"/>
              <a:t>transmitted to the next generation</a:t>
            </a:r>
            <a:r>
              <a:rPr lang="en-GB" dirty="0"/>
              <a:t>, it becomes</a:t>
            </a:r>
            <a:r>
              <a:rPr lang="et-EE" dirty="0"/>
              <a:t> a</a:t>
            </a:r>
            <a:r>
              <a:rPr lang="en-GB" dirty="0"/>
              <a:t> </a:t>
            </a:r>
            <a:r>
              <a:rPr lang="en-GB" b="1" dirty="0"/>
              <a:t>creole</a:t>
            </a:r>
            <a:r>
              <a:rPr lang="et-EE" dirty="0"/>
              <a:t>. </a:t>
            </a:r>
            <a:endParaRPr lang="en-GB" dirty="0"/>
          </a:p>
        </p:txBody>
      </p:sp>
    </p:spTree>
    <p:extLst>
      <p:ext uri="{BB962C8B-B14F-4D97-AF65-F5344CB8AC3E}">
        <p14:creationId xmlns:p14="http://schemas.microsoft.com/office/powerpoint/2010/main" val="3542154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lvl="0"/>
            <a:r>
              <a:rPr lang="en-GB" dirty="0"/>
              <a:t>Some creoles have developed into standardized, official languages (don’t be distracted by names, if Pidgin is a part of language name) </a:t>
            </a:r>
          </a:p>
          <a:p>
            <a:pPr lvl="0"/>
            <a:r>
              <a:rPr lang="en-GB" dirty="0"/>
              <a:t>Papua New Guinea, </a:t>
            </a:r>
            <a:r>
              <a:rPr lang="en-GB" dirty="0" err="1"/>
              <a:t>Hiri</a:t>
            </a:r>
            <a:r>
              <a:rPr lang="en-GB" dirty="0"/>
              <a:t> Motu (or Police Motu). Motu is an Austronesian language, became lexifier in pidgin. </a:t>
            </a:r>
            <a:endParaRPr lang="et-EE" dirty="0"/>
          </a:p>
          <a:p>
            <a:pPr lvl="0"/>
            <a:r>
              <a:rPr lang="en-GB" dirty="0"/>
              <a:t>European colon</a:t>
            </a:r>
            <a:r>
              <a:rPr lang="et-EE" dirty="0"/>
              <a:t>i</a:t>
            </a:r>
            <a:r>
              <a:rPr lang="en-GB" dirty="0" err="1"/>
              <a:t>sation</a:t>
            </a:r>
            <a:r>
              <a:rPr lang="en-GB" dirty="0"/>
              <a:t> facilitated its spread. Was used by various indigenous groups and in police (hence the name)</a:t>
            </a:r>
            <a:r>
              <a:rPr lang="et-EE" dirty="0"/>
              <a:t>.</a:t>
            </a:r>
            <a:endParaRPr lang="en-GB" dirty="0"/>
          </a:p>
          <a:p>
            <a:pPr marL="0" indent="0">
              <a:buNone/>
            </a:pPr>
            <a:endParaRPr lang="en-GB" dirty="0"/>
          </a:p>
        </p:txBody>
      </p:sp>
    </p:spTree>
    <p:extLst>
      <p:ext uri="{BB962C8B-B14F-4D97-AF65-F5344CB8AC3E}">
        <p14:creationId xmlns:p14="http://schemas.microsoft.com/office/powerpoint/2010/main" val="586545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Mixed languages</a:t>
            </a:r>
          </a:p>
        </p:txBody>
      </p:sp>
      <p:sp>
        <p:nvSpPr>
          <p:cNvPr id="3" name="Content Placeholder 2"/>
          <p:cNvSpPr>
            <a:spLocks noGrp="1"/>
          </p:cNvSpPr>
          <p:nvPr>
            <p:ph idx="1"/>
          </p:nvPr>
        </p:nvSpPr>
        <p:spPr/>
        <p:txBody>
          <a:bodyPr>
            <a:normAutofit/>
          </a:bodyPr>
          <a:lstStyle/>
          <a:p>
            <a:pPr lvl="0"/>
            <a:r>
              <a:rPr lang="en-GB" dirty="0"/>
              <a:t>Not just any use of two languages together (no matter how dense)</a:t>
            </a:r>
          </a:p>
          <a:p>
            <a:pPr lvl="0"/>
            <a:r>
              <a:rPr lang="en-GB" dirty="0"/>
              <a:t>If someone says </a:t>
            </a:r>
            <a:r>
              <a:rPr lang="en-GB" i="1" dirty="0"/>
              <a:t>Have you got all </a:t>
            </a:r>
            <a:r>
              <a:rPr lang="en-GB" i="1" dirty="0" err="1"/>
              <a:t>ainepunktid</a:t>
            </a:r>
            <a:r>
              <a:rPr lang="en-GB" i="1" dirty="0"/>
              <a:t> </a:t>
            </a:r>
            <a:r>
              <a:rPr lang="en-GB" dirty="0"/>
              <a:t>‘credit points’ </a:t>
            </a:r>
            <a:r>
              <a:rPr lang="en-GB" i="1" dirty="0"/>
              <a:t>in the </a:t>
            </a:r>
            <a:r>
              <a:rPr lang="en-GB" i="1" dirty="0" err="1"/>
              <a:t>õppekava</a:t>
            </a:r>
            <a:r>
              <a:rPr lang="en-GB" i="1" dirty="0"/>
              <a:t> </a:t>
            </a:r>
            <a:r>
              <a:rPr lang="en-GB" dirty="0"/>
              <a:t>‘study plan’, this is not a mixed language </a:t>
            </a:r>
          </a:p>
          <a:p>
            <a:pPr lvl="0"/>
            <a:r>
              <a:rPr lang="en-GB" dirty="0"/>
              <a:t>A specific type of language with very particular features. </a:t>
            </a:r>
            <a:r>
              <a:rPr lang="en-GB" b="1" dirty="0"/>
              <a:t>Grammar and lexicon</a:t>
            </a:r>
            <a:r>
              <a:rPr lang="en-GB" dirty="0"/>
              <a:t> (or different parts of grammar, for instance, noun and verb) </a:t>
            </a:r>
            <a:r>
              <a:rPr lang="en-GB" b="1" dirty="0"/>
              <a:t>come from different languages</a:t>
            </a:r>
            <a:r>
              <a:rPr lang="en-GB" dirty="0"/>
              <a:t>. The separation is </a:t>
            </a:r>
            <a:r>
              <a:rPr lang="en-GB" b="1" dirty="0"/>
              <a:t>consequent </a:t>
            </a:r>
            <a:r>
              <a:rPr lang="en-GB" dirty="0"/>
              <a:t>throughout</a:t>
            </a:r>
          </a:p>
          <a:p>
            <a:pPr lvl="0"/>
            <a:r>
              <a:rPr lang="en-GB" dirty="0"/>
              <a:t>Linked to change in group identity or to creation of a new group and new identity</a:t>
            </a:r>
          </a:p>
        </p:txBody>
      </p:sp>
    </p:spTree>
    <p:extLst>
      <p:ext uri="{BB962C8B-B14F-4D97-AF65-F5344CB8AC3E}">
        <p14:creationId xmlns:p14="http://schemas.microsoft.com/office/powerpoint/2010/main" val="3624056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Examples</a:t>
            </a:r>
          </a:p>
        </p:txBody>
      </p:sp>
      <p:sp>
        <p:nvSpPr>
          <p:cNvPr id="3" name="Content Placeholder 2"/>
          <p:cNvSpPr>
            <a:spLocks noGrp="1"/>
          </p:cNvSpPr>
          <p:nvPr>
            <p:ph idx="1"/>
          </p:nvPr>
        </p:nvSpPr>
        <p:spPr/>
        <p:txBody>
          <a:bodyPr>
            <a:normAutofit lnSpcReduction="10000"/>
          </a:bodyPr>
          <a:lstStyle/>
          <a:p>
            <a:r>
              <a:rPr lang="en-GB" dirty="0"/>
              <a:t>Group adjustment to new circumstances</a:t>
            </a:r>
          </a:p>
          <a:p>
            <a:r>
              <a:rPr lang="en-GB" dirty="0"/>
              <a:t>Roma in England: in the end of 19</a:t>
            </a:r>
            <a:r>
              <a:rPr lang="en-GB" baseline="30000" dirty="0"/>
              <a:t>th</a:t>
            </a:r>
            <a:r>
              <a:rPr lang="en-GB" dirty="0"/>
              <a:t> c everybody spoke English, Romani started to disappear </a:t>
            </a:r>
          </a:p>
          <a:p>
            <a:r>
              <a:rPr lang="en-GB" dirty="0"/>
              <a:t>Maintenance of Romani was unrealistic. New mixed language Anglo-Romani, grammar comes from English and a greater part of the lexicon from Romani </a:t>
            </a:r>
          </a:p>
          <a:p>
            <a:pPr marL="0" indent="0">
              <a:buNone/>
            </a:pPr>
            <a:r>
              <a:rPr lang="et-EE" b="1" i="1" dirty="0" err="1"/>
              <a:t>Chav</a:t>
            </a:r>
            <a:r>
              <a:rPr lang="et-EE" i="1" dirty="0"/>
              <a:t> </a:t>
            </a:r>
            <a:r>
              <a:rPr lang="et-EE" i="1" dirty="0" err="1"/>
              <a:t>has</a:t>
            </a:r>
            <a:r>
              <a:rPr lang="et-EE" i="1" dirty="0"/>
              <a:t> </a:t>
            </a:r>
            <a:r>
              <a:rPr lang="et-EE" b="1" i="1" dirty="0" err="1"/>
              <a:t>jall</a:t>
            </a:r>
            <a:r>
              <a:rPr lang="et-EE" i="1" dirty="0" err="1"/>
              <a:t>-ed</a:t>
            </a:r>
            <a:r>
              <a:rPr lang="et-EE" i="1" dirty="0"/>
              <a:t> </a:t>
            </a:r>
            <a:r>
              <a:rPr lang="et-EE" dirty="0"/>
              <a:t>‘</a:t>
            </a:r>
            <a:r>
              <a:rPr lang="en-GB" dirty="0"/>
              <a:t>The child has gone</a:t>
            </a:r>
            <a:r>
              <a:rPr lang="et-EE" dirty="0"/>
              <a:t>’ </a:t>
            </a:r>
          </a:p>
          <a:p>
            <a:pPr lvl="0"/>
            <a:r>
              <a:rPr lang="en-GB" dirty="0"/>
              <a:t>Used alongside with English as identity marker. If one wants to become a member of the group, s/he has to start using Anglo-Romani starting from  his/her teens)</a:t>
            </a:r>
          </a:p>
        </p:txBody>
      </p:sp>
    </p:spTree>
    <p:extLst>
      <p:ext uri="{BB962C8B-B14F-4D97-AF65-F5344CB8AC3E}">
        <p14:creationId xmlns:p14="http://schemas.microsoft.com/office/powerpoint/2010/main" val="1994603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lvl="0"/>
            <a:r>
              <a:rPr lang="en-GB" dirty="0"/>
              <a:t>Emergence of a new group</a:t>
            </a:r>
            <a:endParaRPr lang="et-EE" dirty="0"/>
          </a:p>
          <a:p>
            <a:pPr lvl="0"/>
            <a:r>
              <a:rPr lang="en-GB" dirty="0" err="1"/>
              <a:t>Mednyi</a:t>
            </a:r>
            <a:r>
              <a:rPr lang="et-EE" dirty="0"/>
              <a:t> (</a:t>
            </a:r>
            <a:r>
              <a:rPr lang="et-EE"/>
              <a:t>Copper Island)</a:t>
            </a:r>
            <a:r>
              <a:rPr lang="en-GB"/>
              <a:t> </a:t>
            </a:r>
            <a:r>
              <a:rPr lang="en-GB" dirty="0"/>
              <a:t>Aleut (Aleut</a:t>
            </a:r>
            <a:r>
              <a:rPr lang="et-EE" dirty="0"/>
              <a:t> </a:t>
            </a:r>
            <a:r>
              <a:rPr lang="et-EE" dirty="0" err="1"/>
              <a:t>belogns</a:t>
            </a:r>
            <a:r>
              <a:rPr lang="et-EE" dirty="0"/>
              <a:t> </a:t>
            </a:r>
            <a:r>
              <a:rPr lang="et-EE" dirty="0" err="1"/>
              <a:t>to</a:t>
            </a:r>
            <a:r>
              <a:rPr lang="et-EE" dirty="0"/>
              <a:t> Eskimo-</a:t>
            </a:r>
            <a:r>
              <a:rPr lang="et-EE" dirty="0" err="1"/>
              <a:t>Aleut</a:t>
            </a:r>
            <a:r>
              <a:rPr lang="en-GB" dirty="0"/>
              <a:t> language</a:t>
            </a:r>
            <a:r>
              <a:rPr lang="et-EE" dirty="0"/>
              <a:t> </a:t>
            </a:r>
            <a:r>
              <a:rPr lang="et-EE" dirty="0" err="1"/>
              <a:t>family</a:t>
            </a:r>
            <a:r>
              <a:rPr lang="en-GB" dirty="0"/>
              <a:t>). Variety emerge</a:t>
            </a:r>
            <a:r>
              <a:rPr lang="et-EE" dirty="0"/>
              <a:t>d</a:t>
            </a:r>
            <a:r>
              <a:rPr lang="en-GB" dirty="0"/>
              <a:t> on the</a:t>
            </a:r>
            <a:r>
              <a:rPr lang="et-EE" dirty="0"/>
              <a:t> </a:t>
            </a:r>
            <a:r>
              <a:rPr lang="en-GB" dirty="0" err="1"/>
              <a:t>Mednyi</a:t>
            </a:r>
            <a:r>
              <a:rPr lang="en-GB" dirty="0"/>
              <a:t> </a:t>
            </a:r>
            <a:r>
              <a:rPr lang="et-EE" dirty="0"/>
              <a:t>(</a:t>
            </a:r>
            <a:r>
              <a:rPr lang="et-EE" dirty="0" err="1"/>
              <a:t>Copper</a:t>
            </a:r>
            <a:r>
              <a:rPr lang="et-EE" dirty="0"/>
              <a:t>) </a:t>
            </a:r>
            <a:r>
              <a:rPr lang="et-EE" dirty="0" err="1"/>
              <a:t>island</a:t>
            </a:r>
            <a:endParaRPr lang="en-GB" dirty="0"/>
          </a:p>
          <a:p>
            <a:pPr lvl="0"/>
            <a:r>
              <a:rPr lang="en-GB" dirty="0"/>
              <a:t>Russian colonisation, engineers and workers were Russian men. Mixed marriages &gt; descendants of mixed marriages between Russian men and Aleut women</a:t>
            </a:r>
          </a:p>
          <a:p>
            <a:pPr lvl="0"/>
            <a:r>
              <a:rPr lang="en-GB" dirty="0"/>
              <a:t>Stigmatized by both groups </a:t>
            </a:r>
          </a:p>
          <a:p>
            <a:pPr lvl="0"/>
            <a:r>
              <a:rPr lang="en-GB" dirty="0"/>
              <a:t>New group &gt; new identity &gt; new language. All verb endings come from Russian</a:t>
            </a:r>
          </a:p>
        </p:txBody>
      </p:sp>
    </p:spTree>
    <p:extLst>
      <p:ext uri="{BB962C8B-B14F-4D97-AF65-F5344CB8AC3E}">
        <p14:creationId xmlns:p14="http://schemas.microsoft.com/office/powerpoint/2010/main" val="2721339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TotalTime>
  <Words>2093</Words>
  <Application>Microsoft Office PowerPoint</Application>
  <PresentationFormat>Laiekraan</PresentationFormat>
  <Paragraphs>106</Paragraphs>
  <Slides>23</Slides>
  <Notes>0</Notes>
  <HiddenSlides>0</HiddenSlides>
  <MMClips>0</MMClips>
  <ScaleCrop>false</ScaleCrop>
  <HeadingPairs>
    <vt:vector size="6" baseType="variant">
      <vt:variant>
        <vt:lpstr>Kasutatud fondid</vt:lpstr>
      </vt:variant>
      <vt:variant>
        <vt:i4>4</vt:i4>
      </vt:variant>
      <vt:variant>
        <vt:lpstr>Kujundus</vt:lpstr>
      </vt:variant>
      <vt:variant>
        <vt:i4>1</vt:i4>
      </vt:variant>
      <vt:variant>
        <vt:lpstr>Slaidipealkirjad</vt:lpstr>
      </vt:variant>
      <vt:variant>
        <vt:i4>23</vt:i4>
      </vt:variant>
    </vt:vector>
  </HeadingPairs>
  <TitlesOfParts>
    <vt:vector size="28" baseType="lpstr">
      <vt:lpstr>Arial</vt:lpstr>
      <vt:lpstr>Bookman Old Style</vt:lpstr>
      <vt:lpstr>Calibri</vt:lpstr>
      <vt:lpstr>Calibri Light</vt:lpstr>
      <vt:lpstr>Office Theme</vt:lpstr>
      <vt:lpstr>An overview of language contacts. Language maintenance, language shift, language death. Emergence of new languages</vt:lpstr>
      <vt:lpstr>General remarks</vt:lpstr>
      <vt:lpstr>PowerPointi esitlus</vt:lpstr>
      <vt:lpstr>PowerPointi esitlus</vt:lpstr>
      <vt:lpstr>Maintenance vs. shift</vt:lpstr>
      <vt:lpstr>Which of the two will take place? </vt:lpstr>
      <vt:lpstr>CILC may be uni- and bidirectional</vt:lpstr>
      <vt:lpstr>Some extra-linguistic factors to consider</vt:lpstr>
      <vt:lpstr>PowerPointi esitlus</vt:lpstr>
      <vt:lpstr>Language maintenance</vt:lpstr>
      <vt:lpstr>PowerPointi esitlus</vt:lpstr>
      <vt:lpstr>PowerPointi esitlus</vt:lpstr>
      <vt:lpstr>Language sift</vt:lpstr>
      <vt:lpstr>PowerPointi esitlus</vt:lpstr>
      <vt:lpstr>Reasons for language shift</vt:lpstr>
      <vt:lpstr>Emergence of new languages</vt:lpstr>
      <vt:lpstr>Specific sociolinguistic situation</vt:lpstr>
      <vt:lpstr>PowerPointi esitlus</vt:lpstr>
      <vt:lpstr>Pidgin &gt; creole</vt:lpstr>
      <vt:lpstr>PowerPointi esitlus</vt:lpstr>
      <vt:lpstr>Mixed languages</vt:lpstr>
      <vt:lpstr>Examples</vt:lpstr>
      <vt:lpstr>PowerPointi esitlus</vt:lpstr>
    </vt:vector>
  </TitlesOfParts>
  <Company>TLU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Lühiülevaade keelekontaktide protsessist ja tulemustest. Keele säilitamine, keelevahetus, keele surm. Uute keelte teke ja identiteet</dc:title>
  <dc:creator>Anna</dc:creator>
  <cp:lastModifiedBy>Anna Verschik</cp:lastModifiedBy>
  <cp:revision>47</cp:revision>
  <dcterms:created xsi:type="dcterms:W3CDTF">2018-09-24T07:18:40Z</dcterms:created>
  <dcterms:modified xsi:type="dcterms:W3CDTF">2025-09-14T04:01:11Z</dcterms:modified>
</cp:coreProperties>
</file>